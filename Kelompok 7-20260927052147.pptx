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Light" charset="1" panose="00000400000000000000"/>
      <p:regular r:id="rId19"/>
    </p:embeddedFont>
    <p:embeddedFont>
      <p:font typeface="Poppins" charset="1" panose="00000500000000000000"/>
      <p:regular r:id="rId20"/>
    </p:embeddedFont>
    <p:embeddedFont>
      <p:font typeface="Lato" charset="1" panose="020F0502020204030203"/>
      <p:regular r:id="rId21"/>
    </p:embeddedFont>
    <p:embeddedFont>
      <p:font typeface="Poppins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84134" y="1702613"/>
            <a:ext cx="16230600" cy="6881774"/>
          </a:xfrm>
          <a:custGeom>
            <a:avLst/>
            <a:gdLst/>
            <a:ahLst/>
            <a:cxnLst/>
            <a:rect r="r" b="b" t="t" l="l"/>
            <a:pathLst>
              <a:path h="6881774" w="16230600">
                <a:moveTo>
                  <a:pt x="0" y="0"/>
                </a:moveTo>
                <a:lnTo>
                  <a:pt x="16230600" y="0"/>
                </a:lnTo>
                <a:lnTo>
                  <a:pt x="16230600" y="6881774"/>
                </a:lnTo>
                <a:lnTo>
                  <a:pt x="0" y="6881774"/>
                </a:lnTo>
                <a:lnTo>
                  <a:pt x="0" y="0"/>
                </a:lnTo>
                <a:close/>
              </a:path>
            </a:pathLst>
          </a:custGeom>
          <a:blipFill>
            <a:blip r:embed="rId2">
              <a:alphaModFix amt="60000"/>
            </a:blip>
            <a:stretch>
              <a:fillRect l="0" t="0" r="0" b="0"/>
            </a:stretch>
          </a:blipFill>
        </p:spPr>
      </p:sp>
      <p:sp>
        <p:nvSpPr>
          <p:cNvPr name="TextBox 3" id="3"/>
          <p:cNvSpPr txBox="true"/>
          <p:nvPr/>
        </p:nvSpPr>
        <p:spPr>
          <a:xfrm rot="0">
            <a:off x="2571750" y="3496256"/>
            <a:ext cx="9451926" cy="1808479"/>
          </a:xfrm>
          <a:prstGeom prst="rect">
            <a:avLst/>
          </a:prstGeom>
        </p:spPr>
        <p:txBody>
          <a:bodyPr anchor="t" rtlCol="false" tIns="0" lIns="0" bIns="0" rIns="0">
            <a:spAutoFit/>
          </a:bodyPr>
          <a:lstStyle/>
          <a:p>
            <a:pPr algn="l">
              <a:lnSpc>
                <a:spcPts val="12699"/>
              </a:lnSpc>
            </a:pPr>
            <a:r>
              <a:rPr lang="en-US" sz="12699" spc="-253">
                <a:solidFill>
                  <a:srgbClr val="FFFFFF"/>
                </a:solidFill>
                <a:latin typeface="Poppins Light"/>
                <a:ea typeface="Poppins Light"/>
                <a:cs typeface="Poppins Light"/>
                <a:sym typeface="Poppins Light"/>
              </a:rPr>
              <a:t>KELOMPOK 7</a:t>
            </a:r>
          </a:p>
        </p:txBody>
      </p:sp>
      <p:sp>
        <p:nvSpPr>
          <p:cNvPr name="TextBox 4" id="4"/>
          <p:cNvSpPr txBox="true"/>
          <p:nvPr/>
        </p:nvSpPr>
        <p:spPr>
          <a:xfrm rot="0">
            <a:off x="2571750" y="6815201"/>
            <a:ext cx="13891412" cy="1365249"/>
          </a:xfrm>
          <a:prstGeom prst="rect">
            <a:avLst/>
          </a:prstGeom>
        </p:spPr>
        <p:txBody>
          <a:bodyPr anchor="t" rtlCol="false" tIns="0" lIns="0" bIns="0" rIns="0">
            <a:spAutoFit/>
          </a:bodyPr>
          <a:lstStyle/>
          <a:p>
            <a:pPr algn="l">
              <a:lnSpc>
                <a:spcPts val="3499"/>
              </a:lnSpc>
            </a:pPr>
            <a:r>
              <a:rPr lang="en-US" sz="3499">
                <a:solidFill>
                  <a:srgbClr val="FFFFFF"/>
                </a:solidFill>
                <a:latin typeface="Poppins"/>
                <a:ea typeface="Poppins"/>
                <a:cs typeface="Poppins"/>
                <a:sym typeface="Poppins"/>
              </a:rPr>
              <a:t>LAMPU JALAN PINTAR BERBASIS ARTIFICIAL INTELLIGENCE (AI) DENGAN PENGATURAN INTENSITAS CAHAYA OTOMATIS BERDASARKAN KONDISI LINGKUNGAN</a:t>
            </a:r>
          </a:p>
        </p:txBody>
      </p:sp>
      <p:grpSp>
        <p:nvGrpSpPr>
          <p:cNvPr name="Group 5" id="5"/>
          <p:cNvGrpSpPr/>
          <p:nvPr/>
        </p:nvGrpSpPr>
        <p:grpSpPr>
          <a:xfrm rot="0">
            <a:off x="15355683" y="1905000"/>
            <a:ext cx="360567" cy="374854"/>
            <a:chOff x="0" y="0"/>
            <a:chExt cx="480755" cy="499805"/>
          </a:xfrm>
        </p:grpSpPr>
        <p:sp>
          <p:nvSpPr>
            <p:cNvPr name="AutoShape 6" id="6"/>
            <p:cNvSpPr/>
            <p:nvPr/>
          </p:nvSpPr>
          <p:spPr>
            <a:xfrm>
              <a:off x="0" y="19050"/>
              <a:ext cx="480755" cy="0"/>
            </a:xfrm>
            <a:prstGeom prst="line">
              <a:avLst/>
            </a:prstGeom>
            <a:ln cap="flat" w="38100">
              <a:solidFill>
                <a:srgbClr val="FFFFFF"/>
              </a:solidFill>
              <a:prstDash val="solid"/>
              <a:headEnd type="none" len="sm" w="sm"/>
              <a:tailEnd type="none" len="sm" w="sm"/>
            </a:ln>
          </p:spPr>
        </p:sp>
        <p:sp>
          <p:nvSpPr>
            <p:cNvPr name="AutoShape 7" id="7"/>
            <p:cNvSpPr/>
            <p:nvPr/>
          </p:nvSpPr>
          <p:spPr>
            <a:xfrm flipV="true">
              <a:off x="461705" y="19050"/>
              <a:ext cx="0" cy="480755"/>
            </a:xfrm>
            <a:prstGeom prst="line">
              <a:avLst/>
            </a:prstGeom>
            <a:ln cap="flat" w="38100">
              <a:solidFill>
                <a:srgbClr val="FFFFFF"/>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47994" y="2376526"/>
            <a:ext cx="20964517" cy="8888955"/>
          </a:xfrm>
          <a:custGeom>
            <a:avLst/>
            <a:gdLst/>
            <a:ahLst/>
            <a:cxnLst/>
            <a:rect r="r" b="b" t="t" l="l"/>
            <a:pathLst>
              <a:path h="8888955" w="20964517">
                <a:moveTo>
                  <a:pt x="0" y="0"/>
                </a:moveTo>
                <a:lnTo>
                  <a:pt x="20964517" y="0"/>
                </a:lnTo>
                <a:lnTo>
                  <a:pt x="20964517" y="8888955"/>
                </a:lnTo>
                <a:lnTo>
                  <a:pt x="0" y="8888955"/>
                </a:lnTo>
                <a:lnTo>
                  <a:pt x="0" y="0"/>
                </a:lnTo>
                <a:close/>
              </a:path>
            </a:pathLst>
          </a:custGeom>
          <a:blipFill>
            <a:blip r:embed="rId2">
              <a:alphaModFix amt="60000"/>
            </a:blip>
            <a:stretch>
              <a:fillRect l="0" t="0" r="0" b="0"/>
            </a:stretch>
          </a:blipFill>
        </p:spPr>
      </p:sp>
      <p:sp>
        <p:nvSpPr>
          <p:cNvPr name="TextBox 3" id="3"/>
          <p:cNvSpPr txBox="true"/>
          <p:nvPr/>
        </p:nvSpPr>
        <p:spPr>
          <a:xfrm rot="0">
            <a:off x="5240441" y="3486496"/>
            <a:ext cx="7807118" cy="871287"/>
          </a:xfrm>
          <a:prstGeom prst="rect">
            <a:avLst/>
          </a:prstGeom>
        </p:spPr>
        <p:txBody>
          <a:bodyPr anchor="t" rtlCol="false" tIns="0" lIns="0" bIns="0" rIns="0">
            <a:spAutoFit/>
          </a:bodyPr>
          <a:lstStyle/>
          <a:p>
            <a:pPr algn="l">
              <a:lnSpc>
                <a:spcPts val="6102"/>
              </a:lnSpc>
            </a:pPr>
            <a:r>
              <a:rPr lang="en-US" sz="6102" spc="-122">
                <a:solidFill>
                  <a:srgbClr val="FFFFFF"/>
                </a:solidFill>
                <a:latin typeface="Poppins Light"/>
                <a:ea typeface="Poppins Light"/>
                <a:cs typeface="Poppins Light"/>
                <a:sym typeface="Poppins Light"/>
              </a:rPr>
              <a:t>ANGGOTA KELOMPOK</a:t>
            </a:r>
          </a:p>
        </p:txBody>
      </p:sp>
      <p:sp>
        <p:nvSpPr>
          <p:cNvPr name="TextBox 4" id="4"/>
          <p:cNvSpPr txBox="true"/>
          <p:nvPr/>
        </p:nvSpPr>
        <p:spPr>
          <a:xfrm rot="0">
            <a:off x="4923611" y="5076825"/>
            <a:ext cx="8843516" cy="1760856"/>
          </a:xfrm>
          <a:prstGeom prst="rect">
            <a:avLst/>
          </a:prstGeom>
        </p:spPr>
        <p:txBody>
          <a:bodyPr anchor="t" rtlCol="false" tIns="0" lIns="0" bIns="0" rIns="0">
            <a:spAutoFit/>
          </a:bodyPr>
          <a:lstStyle/>
          <a:p>
            <a:pPr algn="l">
              <a:lnSpc>
                <a:spcPts val="4584"/>
              </a:lnSpc>
            </a:pPr>
            <a:r>
              <a:rPr lang="en-US" sz="3499">
                <a:solidFill>
                  <a:srgbClr val="FFFFFF"/>
                </a:solidFill>
                <a:latin typeface="Poppins"/>
                <a:ea typeface="Poppins"/>
                <a:cs typeface="Poppins"/>
                <a:sym typeface="Poppins"/>
              </a:rPr>
              <a:t>2802529481 - FARHAN ALVIN PAREIRA</a:t>
            </a:r>
          </a:p>
          <a:p>
            <a:pPr algn="l">
              <a:lnSpc>
                <a:spcPts val="4584"/>
              </a:lnSpc>
            </a:pPr>
            <a:r>
              <a:rPr lang="en-US" sz="3499">
                <a:solidFill>
                  <a:srgbClr val="FFFFFF"/>
                </a:solidFill>
                <a:latin typeface="Poppins"/>
                <a:ea typeface="Poppins"/>
                <a:cs typeface="Poppins"/>
                <a:sym typeface="Poppins"/>
              </a:rPr>
              <a:t>2802529752 - JIMMY LINE</a:t>
            </a:r>
          </a:p>
          <a:p>
            <a:pPr algn="l">
              <a:lnSpc>
                <a:spcPts val="4584"/>
              </a:lnSpc>
            </a:pPr>
            <a:r>
              <a:rPr lang="en-US" sz="3499">
                <a:solidFill>
                  <a:srgbClr val="FFFFFF"/>
                </a:solidFill>
                <a:latin typeface="Poppins"/>
                <a:ea typeface="Poppins"/>
                <a:cs typeface="Poppins"/>
                <a:sym typeface="Poppins"/>
              </a:rPr>
              <a:t>2802549350 - ERSYA DANNAS HARAHAP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610278" y="0"/>
            <a:ext cx="3876497" cy="10287000"/>
            <a:chOff x="0" y="0"/>
            <a:chExt cx="1020970" cy="2709333"/>
          </a:xfrm>
        </p:grpSpPr>
        <p:sp>
          <p:nvSpPr>
            <p:cNvPr name="Freeform 3" id="3"/>
            <p:cNvSpPr/>
            <p:nvPr/>
          </p:nvSpPr>
          <p:spPr>
            <a:xfrm flipH="false" flipV="false" rot="0">
              <a:off x="0" y="0"/>
              <a:ext cx="1020970" cy="2709333"/>
            </a:xfrm>
            <a:custGeom>
              <a:avLst/>
              <a:gdLst/>
              <a:ahLst/>
              <a:cxnLst/>
              <a:rect r="r" b="b" t="t" l="l"/>
              <a:pathLst>
                <a:path h="2709333" w="1020970">
                  <a:moveTo>
                    <a:pt x="0" y="0"/>
                  </a:moveTo>
                  <a:lnTo>
                    <a:pt x="1020970" y="0"/>
                  </a:lnTo>
                  <a:lnTo>
                    <a:pt x="1020970"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4" id="4"/>
            <p:cNvSpPr txBox="true"/>
            <p:nvPr/>
          </p:nvSpPr>
          <p:spPr>
            <a:xfrm>
              <a:off x="0" y="9525"/>
              <a:ext cx="1020970" cy="2699808"/>
            </a:xfrm>
            <a:prstGeom prst="rect">
              <a:avLst/>
            </a:prstGeom>
          </p:spPr>
          <p:txBody>
            <a:bodyPr anchor="ctr" rtlCol="false" tIns="50800" lIns="50800" bIns="50800" rIns="50800"/>
            <a:lstStyle/>
            <a:p>
              <a:pPr algn="ctr">
                <a:lnSpc>
                  <a:spcPts val="1800"/>
                </a:lnSpc>
              </a:pPr>
            </a:p>
          </p:txBody>
        </p:sp>
      </p:grpSp>
      <p:sp>
        <p:nvSpPr>
          <p:cNvPr name="Freeform 5" id="5"/>
          <p:cNvSpPr/>
          <p:nvPr/>
        </p:nvSpPr>
        <p:spPr>
          <a:xfrm flipH="true" flipV="false" rot="0">
            <a:off x="7881015" y="-1112315"/>
            <a:ext cx="16230600" cy="6881774"/>
          </a:xfrm>
          <a:custGeom>
            <a:avLst/>
            <a:gdLst/>
            <a:ahLst/>
            <a:cxnLst/>
            <a:rect r="r" b="b" t="t" l="l"/>
            <a:pathLst>
              <a:path h="6881774" w="16230600">
                <a:moveTo>
                  <a:pt x="16230600" y="0"/>
                </a:moveTo>
                <a:lnTo>
                  <a:pt x="0" y="0"/>
                </a:lnTo>
                <a:lnTo>
                  <a:pt x="0" y="6881774"/>
                </a:lnTo>
                <a:lnTo>
                  <a:pt x="16230600" y="6881774"/>
                </a:lnTo>
                <a:lnTo>
                  <a:pt x="16230600" y="0"/>
                </a:lnTo>
                <a:close/>
              </a:path>
            </a:pathLst>
          </a:custGeom>
          <a:blipFill>
            <a:blip r:embed="rId2">
              <a:alphaModFix amt="60000"/>
            </a:blip>
            <a:stretch>
              <a:fillRect l="0" t="0" r="0" b="0"/>
            </a:stretch>
          </a:blipFill>
        </p:spPr>
      </p:sp>
      <p:sp>
        <p:nvSpPr>
          <p:cNvPr name="AutoShape 6" id="6"/>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Freeform 7" id="7"/>
          <p:cNvSpPr/>
          <p:nvPr/>
        </p:nvSpPr>
        <p:spPr>
          <a:xfrm flipH="false" flipV="false" rot="0">
            <a:off x="0" y="0"/>
            <a:ext cx="7657098" cy="10614389"/>
          </a:xfrm>
          <a:custGeom>
            <a:avLst/>
            <a:gdLst/>
            <a:ahLst/>
            <a:cxnLst/>
            <a:rect r="r" b="b" t="t" l="l"/>
            <a:pathLst>
              <a:path h="10614389" w="7657098">
                <a:moveTo>
                  <a:pt x="0" y="0"/>
                </a:moveTo>
                <a:lnTo>
                  <a:pt x="7657098" y="0"/>
                </a:lnTo>
                <a:lnTo>
                  <a:pt x="7657098" y="10614389"/>
                </a:lnTo>
                <a:lnTo>
                  <a:pt x="0" y="10614389"/>
                </a:lnTo>
                <a:lnTo>
                  <a:pt x="0" y="0"/>
                </a:lnTo>
                <a:close/>
              </a:path>
            </a:pathLst>
          </a:custGeom>
          <a:blipFill>
            <a:blip r:embed="rId3"/>
            <a:stretch>
              <a:fillRect l="0" t="-4137" r="0" b="-4137"/>
            </a:stretch>
          </a:blipFill>
        </p:spPr>
      </p:sp>
      <p:sp>
        <p:nvSpPr>
          <p:cNvPr name="TextBox 8" id="8"/>
          <p:cNvSpPr txBox="true"/>
          <p:nvPr/>
        </p:nvSpPr>
        <p:spPr>
          <a:xfrm rot="0">
            <a:off x="8477250" y="1952652"/>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DESCRIPTION</a:t>
            </a:r>
          </a:p>
        </p:txBody>
      </p:sp>
      <p:sp>
        <p:nvSpPr>
          <p:cNvPr name="TextBox 9" id="9"/>
          <p:cNvSpPr txBox="true"/>
          <p:nvPr/>
        </p:nvSpPr>
        <p:spPr>
          <a:xfrm rot="0">
            <a:off x="8486775" y="3316901"/>
            <a:ext cx="7927286" cy="5809598"/>
          </a:xfrm>
          <a:prstGeom prst="rect">
            <a:avLst/>
          </a:prstGeom>
        </p:spPr>
        <p:txBody>
          <a:bodyPr anchor="t" rtlCol="false" tIns="0" lIns="0" bIns="0" rIns="0">
            <a:spAutoFit/>
          </a:bodyPr>
          <a:lstStyle/>
          <a:p>
            <a:pPr algn="l">
              <a:lnSpc>
                <a:spcPts val="3529"/>
              </a:lnSpc>
            </a:pPr>
            <a:r>
              <a:rPr lang="en-US" sz="2521">
                <a:solidFill>
                  <a:srgbClr val="FFFFFF"/>
                </a:solidFill>
                <a:latin typeface="Poppins"/>
                <a:ea typeface="Poppins"/>
                <a:cs typeface="Poppins"/>
                <a:sym typeface="Poppins"/>
              </a:rPr>
              <a:t>Lampu jalan berbasis AI ini dapat menyesuaikan intensitas cahaya secara otomatis berdasarkan kondisi pencahayaan lingkungan (terang, mendung, malam hari, dsb).</a:t>
            </a:r>
          </a:p>
          <a:p>
            <a:pPr algn="l">
              <a:lnSpc>
                <a:spcPts val="3529"/>
              </a:lnSpc>
            </a:pPr>
            <a:r>
              <a:rPr lang="en-US" sz="2521">
                <a:solidFill>
                  <a:srgbClr val="FFFFFF"/>
                </a:solidFill>
                <a:latin typeface="Poppins"/>
                <a:ea typeface="Poppins"/>
                <a:cs typeface="Poppins"/>
                <a:sym typeface="Poppins"/>
              </a:rPr>
              <a:t> Sistem akan:</a:t>
            </a:r>
          </a:p>
          <a:p>
            <a:pPr algn="l" marL="544295" indent="-272148" lvl="1">
              <a:lnSpc>
                <a:spcPts val="3529"/>
              </a:lnSpc>
              <a:buFont typeface="Arial"/>
              <a:buChar char="•"/>
            </a:pPr>
            <a:r>
              <a:rPr lang="en-US" sz="2521">
                <a:solidFill>
                  <a:srgbClr val="FFFFFF"/>
                </a:solidFill>
                <a:latin typeface="Poppins"/>
                <a:ea typeface="Poppins"/>
                <a:cs typeface="Poppins"/>
                <a:sym typeface="Poppins"/>
              </a:rPr>
              <a:t>Mendeteksi tingkat kecerahan sekitar melalui sensor cahaya,</a:t>
            </a:r>
          </a:p>
          <a:p>
            <a:pPr algn="l" marL="544295" indent="-272148" lvl="1">
              <a:lnSpc>
                <a:spcPts val="3529"/>
              </a:lnSpc>
              <a:buFont typeface="Arial"/>
              <a:buChar char="•"/>
            </a:pPr>
            <a:r>
              <a:rPr lang="en-US" sz="2521">
                <a:solidFill>
                  <a:srgbClr val="FFFFFF"/>
                </a:solidFill>
                <a:latin typeface="Poppins"/>
                <a:ea typeface="Poppins"/>
                <a:cs typeface="Poppins"/>
                <a:sym typeface="Poppins"/>
              </a:rPr>
              <a:t>Memprediksi atau mengenali kondisi cuaca (cerah, mendung, malam) menggunakan AI,</a:t>
            </a:r>
          </a:p>
          <a:p>
            <a:pPr algn="l" marL="544295" indent="-272148" lvl="1">
              <a:lnSpc>
                <a:spcPts val="3529"/>
              </a:lnSpc>
              <a:buFont typeface="Arial"/>
              <a:buChar char="•"/>
            </a:pPr>
            <a:r>
              <a:rPr lang="en-US" sz="2521">
                <a:solidFill>
                  <a:srgbClr val="FFFFFF"/>
                </a:solidFill>
                <a:latin typeface="Poppins"/>
                <a:ea typeface="Poppins"/>
                <a:cs typeface="Poppins"/>
                <a:sym typeface="Poppins"/>
              </a:rPr>
              <a:t>Menyesuaikan daya output lampu LED agar hemat energi tapi tetap aman untuk pengguna jalan.</a:t>
            </a:r>
          </a:p>
          <a:p>
            <a:pPr algn="l">
              <a:lnSpc>
                <a:spcPts val="352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383875" y="0"/>
            <a:ext cx="6904125" cy="10287000"/>
            <a:chOff x="0" y="0"/>
            <a:chExt cx="950116" cy="1415652"/>
          </a:xfrm>
        </p:grpSpPr>
        <p:sp>
          <p:nvSpPr>
            <p:cNvPr name="Freeform 3" id="3"/>
            <p:cNvSpPr/>
            <p:nvPr/>
          </p:nvSpPr>
          <p:spPr>
            <a:xfrm flipH="false" flipV="false" rot="0">
              <a:off x="0" y="0"/>
              <a:ext cx="950116" cy="1415652"/>
            </a:xfrm>
            <a:custGeom>
              <a:avLst/>
              <a:gdLst/>
              <a:ahLst/>
              <a:cxnLst/>
              <a:rect r="r" b="b" t="t" l="l"/>
              <a:pathLst>
                <a:path h="1415652" w="950116">
                  <a:moveTo>
                    <a:pt x="0" y="0"/>
                  </a:moveTo>
                  <a:lnTo>
                    <a:pt x="950116" y="0"/>
                  </a:lnTo>
                  <a:lnTo>
                    <a:pt x="950116" y="1415652"/>
                  </a:lnTo>
                  <a:lnTo>
                    <a:pt x="0" y="1415652"/>
                  </a:lnTo>
                  <a:close/>
                </a:path>
              </a:pathLst>
            </a:custGeom>
            <a:blipFill>
              <a:blip r:embed="rId2"/>
              <a:stretch>
                <a:fillRect l="0" t="-9244" r="-8446" b="0"/>
              </a:stretch>
            </a:blipFill>
            <a:ln cap="sq">
              <a:noFill/>
              <a:prstDash val="solid"/>
              <a:miter/>
            </a:ln>
          </p:spPr>
        </p:sp>
      </p:grpSp>
      <p:grpSp>
        <p:nvGrpSpPr>
          <p:cNvPr name="Group 4" id="4"/>
          <p:cNvGrpSpPr/>
          <p:nvPr/>
        </p:nvGrpSpPr>
        <p:grpSpPr>
          <a:xfrm rot="0">
            <a:off x="1028700" y="1482999"/>
            <a:ext cx="12577332" cy="8137251"/>
            <a:chOff x="0" y="0"/>
            <a:chExt cx="3312548" cy="2143144"/>
          </a:xfrm>
        </p:grpSpPr>
        <p:sp>
          <p:nvSpPr>
            <p:cNvPr name="Freeform 5" id="5"/>
            <p:cNvSpPr/>
            <p:nvPr/>
          </p:nvSpPr>
          <p:spPr>
            <a:xfrm flipH="false" flipV="false" rot="0">
              <a:off x="0" y="0"/>
              <a:ext cx="3312549" cy="2143144"/>
            </a:xfrm>
            <a:custGeom>
              <a:avLst/>
              <a:gdLst/>
              <a:ahLst/>
              <a:cxnLst/>
              <a:rect r="r" b="b" t="t" l="l"/>
              <a:pathLst>
                <a:path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3312548" cy="218124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535865" y="512322"/>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Freeform 8" id="8"/>
          <p:cNvSpPr/>
          <p:nvPr/>
        </p:nvSpPr>
        <p:spPr>
          <a:xfrm flipH="false" flipV="false" rot="0">
            <a:off x="10212631"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2339023" y="3587500"/>
            <a:ext cx="10205418" cy="4834109"/>
          </a:xfrm>
          <a:prstGeom prst="rect">
            <a:avLst/>
          </a:prstGeom>
        </p:spPr>
        <p:txBody>
          <a:bodyPr anchor="t" rtlCol="false" tIns="0" lIns="0" bIns="0" rIns="0">
            <a:spAutoFit/>
          </a:bodyPr>
          <a:lstStyle/>
          <a:p>
            <a:pPr algn="l">
              <a:lnSpc>
                <a:spcPts val="4245"/>
              </a:lnSpc>
              <a:spcBef>
                <a:spcPct val="0"/>
              </a:spcBef>
            </a:pPr>
            <a:r>
              <a:rPr lang="en-US" sz="3032">
                <a:solidFill>
                  <a:srgbClr val="E5E1DA"/>
                </a:solidFill>
                <a:latin typeface="Lato"/>
                <a:ea typeface="Lato"/>
                <a:cs typeface="Lato"/>
                <a:sym typeface="Lato"/>
              </a:rPr>
              <a:t>Permasalahan yang sering terjadi pada sistem penerangan jalan umum adalah pemborosan energi listrik akibat lampu menyala penuh meskipun kondisi lingkungan tidak selalu gelap, seperti pada saat mendung atau menjelang pagi. Untuk mengatasi hal tersebut, penelitian ini bertujuan mengembangkan lampu jalan berbasis kecerdasan buatan (AI) yang mampu menyesuaikan intensitas cahaya secara otomatis berdasarkan kondisi pencahayaan dan cuaca di sekitarnya.</a:t>
            </a:r>
          </a:p>
        </p:txBody>
      </p:sp>
      <p:sp>
        <p:nvSpPr>
          <p:cNvPr name="TextBox 10" id="10"/>
          <p:cNvSpPr txBox="true"/>
          <p:nvPr/>
        </p:nvSpPr>
        <p:spPr>
          <a:xfrm rot="0">
            <a:off x="2339023" y="2285225"/>
            <a:ext cx="8043479" cy="987425"/>
          </a:xfrm>
          <a:prstGeom prst="rect">
            <a:avLst/>
          </a:prstGeom>
        </p:spPr>
        <p:txBody>
          <a:bodyPr anchor="t" rtlCol="false" tIns="0" lIns="0" bIns="0" rIns="0">
            <a:spAutoFit/>
          </a:bodyPr>
          <a:lstStyle/>
          <a:p>
            <a:pPr algn="l">
              <a:lnSpc>
                <a:spcPts val="7150"/>
              </a:lnSpc>
            </a:pPr>
            <a:r>
              <a:rPr lang="en-US" sz="6500" b="true">
                <a:solidFill>
                  <a:srgbClr val="FBF9F1"/>
                </a:solidFill>
                <a:latin typeface="Poppins Bold"/>
                <a:ea typeface="Poppins Bold"/>
                <a:cs typeface="Poppins Bold"/>
                <a:sym typeface="Poppins Bold"/>
              </a:rPr>
              <a:t>ABSTRACT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777389" y="-357594"/>
            <a:ext cx="21842778" cy="9261338"/>
          </a:xfrm>
          <a:custGeom>
            <a:avLst/>
            <a:gdLst/>
            <a:ahLst/>
            <a:cxnLst/>
            <a:rect r="r" b="b" t="t" l="l"/>
            <a:pathLst>
              <a:path h="9261338" w="21842778">
                <a:moveTo>
                  <a:pt x="0" y="0"/>
                </a:moveTo>
                <a:lnTo>
                  <a:pt x="21842778" y="0"/>
                </a:lnTo>
                <a:lnTo>
                  <a:pt x="21842778" y="9261338"/>
                </a:lnTo>
                <a:lnTo>
                  <a:pt x="0" y="9261338"/>
                </a:lnTo>
                <a:lnTo>
                  <a:pt x="0" y="0"/>
                </a:lnTo>
                <a:close/>
              </a:path>
            </a:pathLst>
          </a:custGeom>
          <a:blipFill>
            <a:blip r:embed="rId2">
              <a:alphaModFix amt="60000"/>
            </a:blip>
            <a:stretch>
              <a:fillRect l="0" t="0" r="0" b="0"/>
            </a:stretch>
          </a:blipFill>
        </p:spPr>
      </p:sp>
      <p:sp>
        <p:nvSpPr>
          <p:cNvPr name="AutoShape 3" id="3"/>
          <p:cNvSpPr/>
          <p:nvPr/>
        </p:nvSpPr>
        <p:spPr>
          <a:xfrm>
            <a:off x="2706810" y="4081986"/>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833182" y="4767346"/>
            <a:ext cx="2125884" cy="1715257"/>
          </a:xfrm>
          <a:custGeom>
            <a:avLst/>
            <a:gdLst/>
            <a:ahLst/>
            <a:cxnLst/>
            <a:rect r="r" b="b" t="t" l="l"/>
            <a:pathLst>
              <a:path h="1715257" w="2125884">
                <a:moveTo>
                  <a:pt x="0" y="0"/>
                </a:moveTo>
                <a:lnTo>
                  <a:pt x="2125884" y="0"/>
                </a:lnTo>
                <a:lnTo>
                  <a:pt x="2125884" y="1715257"/>
                </a:lnTo>
                <a:lnTo>
                  <a:pt x="0" y="17152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839705" y="4767346"/>
            <a:ext cx="2330194" cy="2008203"/>
          </a:xfrm>
          <a:custGeom>
            <a:avLst/>
            <a:gdLst/>
            <a:ahLst/>
            <a:cxnLst/>
            <a:rect r="r" b="b" t="t" l="l"/>
            <a:pathLst>
              <a:path h="2008203" w="2330194">
                <a:moveTo>
                  <a:pt x="0" y="0"/>
                </a:moveTo>
                <a:lnTo>
                  <a:pt x="2330194" y="0"/>
                </a:lnTo>
                <a:lnTo>
                  <a:pt x="2330194" y="2008203"/>
                </a:lnTo>
                <a:lnTo>
                  <a:pt x="0" y="2008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705877" y="4474399"/>
            <a:ext cx="2876246" cy="2301150"/>
          </a:xfrm>
          <a:custGeom>
            <a:avLst/>
            <a:gdLst/>
            <a:ahLst/>
            <a:cxnLst/>
            <a:rect r="r" b="b" t="t" l="l"/>
            <a:pathLst>
              <a:path h="2301150" w="2876246">
                <a:moveTo>
                  <a:pt x="0" y="0"/>
                </a:moveTo>
                <a:lnTo>
                  <a:pt x="2876246" y="0"/>
                </a:lnTo>
                <a:lnTo>
                  <a:pt x="2876246" y="2301150"/>
                </a:lnTo>
                <a:lnTo>
                  <a:pt x="0" y="23011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706810" y="3168167"/>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OBJECTIVES</a:t>
            </a:r>
          </a:p>
        </p:txBody>
      </p:sp>
      <p:sp>
        <p:nvSpPr>
          <p:cNvPr name="TextBox 8" id="8"/>
          <p:cNvSpPr txBox="true"/>
          <p:nvPr/>
        </p:nvSpPr>
        <p:spPr>
          <a:xfrm rot="0">
            <a:off x="2288191" y="7316503"/>
            <a:ext cx="3215866" cy="531627"/>
          </a:xfrm>
          <a:prstGeom prst="rect">
            <a:avLst/>
          </a:prstGeom>
        </p:spPr>
        <p:txBody>
          <a:bodyPr anchor="t" rtlCol="false" tIns="0" lIns="0" bIns="0" rIns="0">
            <a:spAutoFit/>
          </a:bodyPr>
          <a:lstStyle/>
          <a:p>
            <a:pPr algn="l">
              <a:lnSpc>
                <a:spcPts val="4120"/>
              </a:lnSpc>
            </a:pPr>
            <a:r>
              <a:rPr lang="en-US" sz="2943">
                <a:solidFill>
                  <a:srgbClr val="FFFFFF"/>
                </a:solidFill>
                <a:latin typeface="Poppins"/>
                <a:ea typeface="Poppins"/>
                <a:cs typeface="Poppins"/>
                <a:sym typeface="Poppins"/>
              </a:rPr>
              <a:t>Efisiensi energi</a:t>
            </a:r>
          </a:p>
        </p:txBody>
      </p:sp>
      <p:sp>
        <p:nvSpPr>
          <p:cNvPr name="TextBox 9" id="9"/>
          <p:cNvSpPr txBox="true"/>
          <p:nvPr/>
        </p:nvSpPr>
        <p:spPr>
          <a:xfrm rot="0">
            <a:off x="7175182" y="7223224"/>
            <a:ext cx="3937635" cy="746760"/>
          </a:xfrm>
          <a:prstGeom prst="rect">
            <a:avLst/>
          </a:prstGeom>
        </p:spPr>
        <p:txBody>
          <a:bodyPr anchor="t" rtlCol="false" tIns="0" lIns="0" bIns="0" rIns="0">
            <a:spAutoFit/>
          </a:bodyPr>
          <a:lstStyle/>
          <a:p>
            <a:pPr algn="ctr">
              <a:lnSpc>
                <a:spcPts val="2940"/>
              </a:lnSpc>
            </a:pPr>
            <a:r>
              <a:rPr lang="en-US" sz="2100">
                <a:solidFill>
                  <a:srgbClr val="FFFFFF"/>
                </a:solidFill>
                <a:latin typeface="Poppins"/>
                <a:ea typeface="Poppins"/>
                <a:cs typeface="Poppins"/>
                <a:sym typeface="Poppins"/>
              </a:rPr>
              <a:t>Otomatisasi penuh tanpa intervensi manusia</a:t>
            </a:r>
          </a:p>
        </p:txBody>
      </p:sp>
      <p:sp>
        <p:nvSpPr>
          <p:cNvPr name="TextBox 10" id="10"/>
          <p:cNvSpPr txBox="true"/>
          <p:nvPr/>
        </p:nvSpPr>
        <p:spPr>
          <a:xfrm rot="0">
            <a:off x="12486186" y="7223224"/>
            <a:ext cx="3937635" cy="746760"/>
          </a:xfrm>
          <a:prstGeom prst="rect">
            <a:avLst/>
          </a:prstGeom>
        </p:spPr>
        <p:txBody>
          <a:bodyPr anchor="t" rtlCol="false" tIns="0" lIns="0" bIns="0" rIns="0">
            <a:spAutoFit/>
          </a:bodyPr>
          <a:lstStyle/>
          <a:p>
            <a:pPr algn="ctr">
              <a:lnSpc>
                <a:spcPts val="2940"/>
              </a:lnSpc>
            </a:pPr>
            <a:r>
              <a:rPr lang="en-US" sz="2100">
                <a:solidFill>
                  <a:srgbClr val="FFFFFF"/>
                </a:solidFill>
                <a:latin typeface="Poppins"/>
                <a:ea typeface="Poppins"/>
                <a:cs typeface="Poppins"/>
                <a:sym typeface="Poppins"/>
              </a:rPr>
              <a:t>Ramah lingkungan &amp; berteknologi pintar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TextBox 3" id="3"/>
          <p:cNvSpPr txBox="true"/>
          <p:nvPr/>
        </p:nvSpPr>
        <p:spPr>
          <a:xfrm rot="0">
            <a:off x="5630990" y="1504452"/>
            <a:ext cx="702602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METHOD</a:t>
            </a:r>
          </a:p>
        </p:txBody>
      </p:sp>
      <p:sp>
        <p:nvSpPr>
          <p:cNvPr name="AutoShape 4" id="4"/>
          <p:cNvSpPr/>
          <p:nvPr/>
        </p:nvSpPr>
        <p:spPr>
          <a:xfrm>
            <a:off x="8861887" y="2642331"/>
            <a:ext cx="567898" cy="0"/>
          </a:xfrm>
          <a:prstGeom prst="line">
            <a:avLst/>
          </a:prstGeom>
          <a:ln cap="flat" w="38100">
            <a:solidFill>
              <a:srgbClr val="D2B99A"/>
            </a:solidFill>
            <a:prstDash val="solid"/>
            <a:headEnd type="none" len="sm" w="sm"/>
            <a:tailEnd type="none" len="sm" w="sm"/>
          </a:ln>
        </p:spPr>
      </p:sp>
      <p:sp>
        <p:nvSpPr>
          <p:cNvPr name="TextBox 5" id="5"/>
          <p:cNvSpPr txBox="true"/>
          <p:nvPr/>
        </p:nvSpPr>
        <p:spPr>
          <a:xfrm rot="0">
            <a:off x="1534433" y="3693581"/>
            <a:ext cx="14069646" cy="3938079"/>
          </a:xfrm>
          <a:prstGeom prst="rect">
            <a:avLst/>
          </a:prstGeom>
        </p:spPr>
        <p:txBody>
          <a:bodyPr anchor="t" rtlCol="false" tIns="0" lIns="0" bIns="0" rIns="0">
            <a:spAutoFit/>
          </a:bodyPr>
          <a:lstStyle/>
          <a:p>
            <a:pPr algn="l">
              <a:lnSpc>
                <a:spcPts val="4493"/>
              </a:lnSpc>
            </a:pPr>
            <a:r>
              <a:rPr lang="en-US" sz="3209">
                <a:solidFill>
                  <a:srgbClr val="FFFFFF"/>
                </a:solidFill>
                <a:latin typeface="Poppins"/>
                <a:ea typeface="Poppins"/>
                <a:cs typeface="Poppins"/>
                <a:sym typeface="Poppins"/>
              </a:rPr>
              <a:t>Metode yang digunakan adalah penerapan model Machine Learning sederhana, yaitu Decision Tree, yang memproses data dari sensor LDR (Light Dependent Resistor) untuk mengukur intensitas cahaya, serta sensor DHT11 untuk mendeteksi suhu dan kelembapan udara sebagai indikator kondisi cuaca. Data yang diperoleh digunakan untuk melatih model AI dalam menentukan tingkat kecerahan optimal lampu LED.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TextBox 3" id="3"/>
          <p:cNvSpPr txBox="true"/>
          <p:nvPr/>
        </p:nvSpPr>
        <p:spPr>
          <a:xfrm rot="0">
            <a:off x="5630990" y="1504452"/>
            <a:ext cx="702602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ID3 ALGORITHM</a:t>
            </a:r>
          </a:p>
        </p:txBody>
      </p:sp>
      <p:sp>
        <p:nvSpPr>
          <p:cNvPr name="AutoShape 4" id="4"/>
          <p:cNvSpPr/>
          <p:nvPr/>
        </p:nvSpPr>
        <p:spPr>
          <a:xfrm>
            <a:off x="8861887" y="2642331"/>
            <a:ext cx="567898" cy="0"/>
          </a:xfrm>
          <a:prstGeom prst="line">
            <a:avLst/>
          </a:prstGeom>
          <a:ln cap="flat" w="38100">
            <a:solidFill>
              <a:srgbClr val="D2B99A"/>
            </a:solidFill>
            <a:prstDash val="solid"/>
            <a:headEnd type="none" len="sm" w="sm"/>
            <a:tailEnd type="none" len="sm" w="sm"/>
          </a:ln>
        </p:spPr>
      </p:sp>
      <p:sp>
        <p:nvSpPr>
          <p:cNvPr name="TextBox 5" id="5"/>
          <p:cNvSpPr txBox="true"/>
          <p:nvPr/>
        </p:nvSpPr>
        <p:spPr>
          <a:xfrm rot="0">
            <a:off x="2109177" y="3693581"/>
            <a:ext cx="14069646" cy="2814113"/>
          </a:xfrm>
          <a:prstGeom prst="rect">
            <a:avLst/>
          </a:prstGeom>
        </p:spPr>
        <p:txBody>
          <a:bodyPr anchor="t" rtlCol="false" tIns="0" lIns="0" bIns="0" rIns="0">
            <a:spAutoFit/>
          </a:bodyPr>
          <a:lstStyle/>
          <a:p>
            <a:pPr algn="l">
              <a:lnSpc>
                <a:spcPts val="4493"/>
              </a:lnSpc>
            </a:pPr>
            <a:r>
              <a:rPr lang="en-US" sz="3209">
                <a:solidFill>
                  <a:srgbClr val="FFFFFF"/>
                </a:solidFill>
                <a:latin typeface="Poppins"/>
                <a:ea typeface="Poppins"/>
                <a:cs typeface="Poppins"/>
                <a:sym typeface="Poppins"/>
              </a:rPr>
              <a:t>ID3:</a:t>
            </a:r>
          </a:p>
          <a:p>
            <a:pPr algn="l" marL="692972" indent="-346486" lvl="1">
              <a:lnSpc>
                <a:spcPts val="4493"/>
              </a:lnSpc>
              <a:buFont typeface="Arial"/>
              <a:buChar char="•"/>
            </a:pPr>
            <a:r>
              <a:rPr lang="en-US" sz="3209">
                <a:solidFill>
                  <a:srgbClr val="FFFFFF"/>
                </a:solidFill>
                <a:latin typeface="Poppins"/>
                <a:ea typeface="Poppins"/>
                <a:cs typeface="Poppins"/>
                <a:sym typeface="Poppins"/>
              </a:rPr>
              <a:t>Dirancang untuk data kategorikal</a:t>
            </a:r>
          </a:p>
          <a:p>
            <a:pPr algn="l" marL="692972" indent="-346486" lvl="1">
              <a:lnSpc>
                <a:spcPts val="4493"/>
              </a:lnSpc>
              <a:buFont typeface="Arial"/>
              <a:buChar char="•"/>
            </a:pPr>
            <a:r>
              <a:rPr lang="en-US" sz="3209">
                <a:solidFill>
                  <a:srgbClr val="FFFFFF"/>
                </a:solidFill>
                <a:latin typeface="Poppins"/>
                <a:ea typeface="Poppins"/>
                <a:cs typeface="Poppins"/>
                <a:sym typeface="Poppins"/>
              </a:rPr>
              <a:t>Menggunakan Information Gain</a:t>
            </a:r>
          </a:p>
          <a:p>
            <a:pPr algn="l" marL="692972" indent="-346486" lvl="1">
              <a:lnSpc>
                <a:spcPts val="4493"/>
              </a:lnSpc>
              <a:buFont typeface="Arial"/>
              <a:buChar char="•"/>
            </a:pPr>
            <a:r>
              <a:rPr lang="en-US" sz="3209">
                <a:solidFill>
                  <a:srgbClr val="FFFFFF"/>
                </a:solidFill>
                <a:latin typeface="Poppins"/>
                <a:ea typeface="Poppins"/>
                <a:cs typeface="Poppins"/>
                <a:sym typeface="Poppins"/>
              </a:rPr>
              <a:t>Mudah dipahami dan Transparan</a:t>
            </a:r>
          </a:p>
          <a:p>
            <a:pPr algn="l">
              <a:lnSpc>
                <a:spcPts val="449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TextBox 3" id="3"/>
          <p:cNvSpPr txBox="true"/>
          <p:nvPr/>
        </p:nvSpPr>
        <p:spPr>
          <a:xfrm rot="0">
            <a:off x="5630990" y="1504452"/>
            <a:ext cx="702602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SENSOR</a:t>
            </a:r>
          </a:p>
        </p:txBody>
      </p:sp>
      <p:sp>
        <p:nvSpPr>
          <p:cNvPr name="AutoShape 4" id="4"/>
          <p:cNvSpPr/>
          <p:nvPr/>
        </p:nvSpPr>
        <p:spPr>
          <a:xfrm>
            <a:off x="8861887" y="2642331"/>
            <a:ext cx="567898" cy="0"/>
          </a:xfrm>
          <a:prstGeom prst="line">
            <a:avLst/>
          </a:prstGeom>
          <a:ln cap="flat" w="38100">
            <a:solidFill>
              <a:srgbClr val="D2B99A"/>
            </a:solidFill>
            <a:prstDash val="solid"/>
            <a:headEnd type="none" len="sm" w="sm"/>
            <a:tailEnd type="none" len="sm" w="sm"/>
          </a:ln>
        </p:spPr>
      </p:sp>
      <p:sp>
        <p:nvSpPr>
          <p:cNvPr name="TextBox 5" id="5"/>
          <p:cNvSpPr txBox="true"/>
          <p:nvPr/>
        </p:nvSpPr>
        <p:spPr>
          <a:xfrm rot="0">
            <a:off x="1534433" y="3693581"/>
            <a:ext cx="14069646" cy="2814113"/>
          </a:xfrm>
          <a:prstGeom prst="rect">
            <a:avLst/>
          </a:prstGeom>
        </p:spPr>
        <p:txBody>
          <a:bodyPr anchor="t" rtlCol="false" tIns="0" lIns="0" bIns="0" rIns="0">
            <a:spAutoFit/>
          </a:bodyPr>
          <a:lstStyle/>
          <a:p>
            <a:pPr algn="l" marL="692972" indent="-346486" lvl="1">
              <a:lnSpc>
                <a:spcPts val="4493"/>
              </a:lnSpc>
              <a:buFont typeface="Arial"/>
              <a:buChar char="•"/>
            </a:pPr>
            <a:r>
              <a:rPr lang="en-US" sz="3209">
                <a:solidFill>
                  <a:srgbClr val="FFFFFF"/>
                </a:solidFill>
                <a:latin typeface="Poppins"/>
                <a:ea typeface="Poppins"/>
                <a:cs typeface="Poppins"/>
                <a:sym typeface="Poppins"/>
              </a:rPr>
              <a:t>LDR (Light Dependent Resistor)</a:t>
            </a:r>
          </a:p>
          <a:p>
            <a:pPr algn="l" marL="692972" indent="-346486" lvl="1">
              <a:lnSpc>
                <a:spcPts val="4493"/>
              </a:lnSpc>
              <a:buFont typeface="Arial"/>
              <a:buChar char="•"/>
            </a:pPr>
            <a:r>
              <a:rPr lang="en-US" sz="3209">
                <a:solidFill>
                  <a:srgbClr val="FFFFFF"/>
                </a:solidFill>
                <a:latin typeface="Poppins"/>
                <a:ea typeface="Poppins"/>
                <a:cs typeface="Poppins"/>
                <a:sym typeface="Poppins"/>
              </a:rPr>
              <a:t>DHT11 / DHT22 Sensor</a:t>
            </a:r>
          </a:p>
          <a:p>
            <a:pPr algn="l" marL="692972" indent="-346486" lvl="1">
              <a:lnSpc>
                <a:spcPts val="4493"/>
              </a:lnSpc>
              <a:buFont typeface="Arial"/>
              <a:buChar char="•"/>
            </a:pPr>
            <a:r>
              <a:rPr lang="en-US" sz="3209">
                <a:solidFill>
                  <a:srgbClr val="FFFFFF"/>
                </a:solidFill>
                <a:latin typeface="Poppins"/>
                <a:ea typeface="Poppins"/>
                <a:cs typeface="Poppins"/>
                <a:sym typeface="Poppins"/>
              </a:rPr>
              <a:t>RTC Module (Real Time Clock) </a:t>
            </a:r>
          </a:p>
          <a:p>
            <a:pPr algn="l" marL="692972" indent="-346486" lvl="1">
              <a:lnSpc>
                <a:spcPts val="4493"/>
              </a:lnSpc>
              <a:buFont typeface="Arial"/>
              <a:buChar char="•"/>
            </a:pPr>
            <a:r>
              <a:rPr lang="en-US" sz="3209">
                <a:solidFill>
                  <a:srgbClr val="FFFFFF"/>
                </a:solidFill>
                <a:latin typeface="Poppins"/>
                <a:ea typeface="Poppins"/>
                <a:cs typeface="Poppins"/>
                <a:sym typeface="Poppins"/>
              </a:rPr>
              <a:t>Microcontroller</a:t>
            </a:r>
          </a:p>
          <a:p>
            <a:pPr algn="l" marL="692972" indent="-346486" lvl="1">
              <a:lnSpc>
                <a:spcPts val="4493"/>
              </a:lnSpc>
              <a:buFont typeface="Arial"/>
              <a:buChar char="•"/>
            </a:pPr>
            <a:r>
              <a:rPr lang="en-US" sz="3209">
                <a:solidFill>
                  <a:srgbClr val="FFFFFF"/>
                </a:solidFill>
                <a:latin typeface="Poppins"/>
                <a:ea typeface="Poppins"/>
                <a:cs typeface="Poppins"/>
                <a:sym typeface="Poppins"/>
              </a:rPr>
              <a:t>Lampu LED high power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graphicFrame>
        <p:nvGraphicFramePr>
          <p:cNvPr name="Table 3" id="3"/>
          <p:cNvGraphicFramePr>
            <a:graphicFrameLocks noGrp="true"/>
          </p:cNvGraphicFramePr>
          <p:nvPr/>
        </p:nvGraphicFramePr>
        <p:xfrm>
          <a:off x="718161" y="1824038"/>
          <a:ext cx="16851678" cy="6638925"/>
        </p:xfrm>
        <a:graphic>
          <a:graphicData uri="http://schemas.openxmlformats.org/drawingml/2006/table">
            <a:tbl>
              <a:tblPr/>
              <a:tblGrid>
                <a:gridCol w="3370336"/>
                <a:gridCol w="3370336"/>
                <a:gridCol w="3370336"/>
                <a:gridCol w="3370336"/>
                <a:gridCol w="3370336"/>
              </a:tblGrid>
              <a:tr h="948418">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Rule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Waktu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Lux</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Brightness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Cuaca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Siang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Cerah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Siang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Sedang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Cerah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Siang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Cerah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Siang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Hujan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Siang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Sedang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Hujan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Siang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Hujan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Freeform 4" id="4"/>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graphicFrame>
        <p:nvGraphicFramePr>
          <p:cNvPr name="Table 3" id="3"/>
          <p:cNvGraphicFramePr>
            <a:graphicFrameLocks noGrp="true"/>
          </p:cNvGraphicFramePr>
          <p:nvPr/>
        </p:nvGraphicFramePr>
        <p:xfrm>
          <a:off x="718161" y="1824038"/>
          <a:ext cx="16851678" cy="6638925"/>
        </p:xfrm>
        <a:graphic>
          <a:graphicData uri="http://schemas.openxmlformats.org/drawingml/2006/table">
            <a:tbl>
              <a:tblPr/>
              <a:tblGrid>
                <a:gridCol w="3370336"/>
                <a:gridCol w="3370336"/>
                <a:gridCol w="3370336"/>
                <a:gridCol w="3370336"/>
                <a:gridCol w="3370336"/>
              </a:tblGrid>
              <a:tr h="948418">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Rule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Waktu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Lux</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Brightness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Cuaca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Malam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30%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Cerah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Malam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Sedang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60%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Hujan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Malam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60%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Cerah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R10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Malam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Rendah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100%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Hujan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R11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Malam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Sedang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100%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Cerah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8418">
                <a:tc>
                  <a:txBody>
                    <a:bodyPr anchor="t" rtlCol="false"/>
                    <a:lstStyle/>
                    <a:p>
                      <a:pPr algn="ctr">
                        <a:lnSpc>
                          <a:spcPts val="2940"/>
                        </a:lnSpc>
                        <a:defRPr/>
                      </a:pPr>
                      <a:r>
                        <a:rPr lang="en-US" sz="2100">
                          <a:solidFill>
                            <a:srgbClr val="FFFFFF"/>
                          </a:solidFill>
                          <a:latin typeface="Poppins"/>
                          <a:ea typeface="Poppins"/>
                          <a:cs typeface="Poppins"/>
                          <a:sym typeface="Poppins"/>
                        </a:rPr>
                        <a:t>R12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Malam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Tinggi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100%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Hujan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graphicFrame>
        <p:nvGraphicFramePr>
          <p:cNvPr name="Table 3" id="3"/>
          <p:cNvGraphicFramePr>
            <a:graphicFrameLocks noGrp="true"/>
          </p:cNvGraphicFramePr>
          <p:nvPr/>
        </p:nvGraphicFramePr>
        <p:xfrm>
          <a:off x="1028700" y="3353703"/>
          <a:ext cx="16851678" cy="2867025"/>
        </p:xfrm>
        <a:graphic>
          <a:graphicData uri="http://schemas.openxmlformats.org/drawingml/2006/table">
            <a:tbl>
              <a:tblPr/>
              <a:tblGrid>
                <a:gridCol w="7985063"/>
                <a:gridCol w="8866614"/>
              </a:tblGrid>
              <a:tr h="955675">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Waktu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0.73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5675">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Lux</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5675">
                <a:tc>
                  <a:txBody>
                    <a:bodyPr anchor="t" rtlCol="false"/>
                    <a:lstStyle/>
                    <a:p>
                      <a:pPr algn="ctr">
                        <a:lnSpc>
                          <a:spcPts val="2940"/>
                        </a:lnSpc>
                        <a:defRPr/>
                      </a:pPr>
                      <a:r>
                        <a:rPr lang="en-US" sz="2100" b="true">
                          <a:solidFill>
                            <a:srgbClr val="FFFFFF"/>
                          </a:solidFill>
                          <a:latin typeface="Poppins Bold"/>
                          <a:ea typeface="Poppins Bold"/>
                          <a:cs typeface="Poppins Bold"/>
                          <a:sym typeface="Poppins Bold"/>
                        </a:rPr>
                        <a:t>Cuaca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940"/>
                        </a:lnSpc>
                        <a:defRPr/>
                      </a:pPr>
                      <a:r>
                        <a:rPr lang="en-US" sz="2100">
                          <a:solidFill>
                            <a:srgbClr val="FFFFFF"/>
                          </a:solidFill>
                          <a:latin typeface="Poppins"/>
                          <a:ea typeface="Poppins"/>
                          <a:cs typeface="Poppins"/>
                          <a:sym typeface="Poppins"/>
                        </a:rPr>
                        <a:t>0.1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4" id="4"/>
          <p:cNvSpPr txBox="true"/>
          <p:nvPr/>
        </p:nvSpPr>
        <p:spPr>
          <a:xfrm rot="0">
            <a:off x="1028700" y="6695861"/>
            <a:ext cx="3971910" cy="405216"/>
          </a:xfrm>
          <a:prstGeom prst="rect">
            <a:avLst/>
          </a:prstGeom>
        </p:spPr>
        <p:txBody>
          <a:bodyPr anchor="t" rtlCol="false" tIns="0" lIns="0" bIns="0" rIns="0">
            <a:spAutoFit/>
          </a:bodyPr>
          <a:lstStyle/>
          <a:p>
            <a:pPr algn="ctr">
              <a:lnSpc>
                <a:spcPts val="2804"/>
              </a:lnSpc>
            </a:pPr>
            <a:r>
              <a:rPr lang="en-US" sz="2804">
                <a:solidFill>
                  <a:srgbClr val="FFFFFF"/>
                </a:solidFill>
                <a:latin typeface="Poppins Light"/>
                <a:ea typeface="Poppins Light"/>
                <a:cs typeface="Poppins Light"/>
                <a:sym typeface="Poppins Light"/>
              </a:rPr>
              <a:t>WAKTU MENJADI ROOT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8116696" y="450849"/>
            <a:ext cx="2054607" cy="577851"/>
          </a:xfrm>
          <a:prstGeom prst="rect">
            <a:avLst/>
          </a:prstGeom>
        </p:spPr>
        <p:txBody>
          <a:bodyPr anchor="t" rtlCol="false" tIns="0" lIns="0" bIns="0" rIns="0">
            <a:spAutoFit/>
          </a:bodyPr>
          <a:lstStyle/>
          <a:p>
            <a:pPr algn="ctr">
              <a:lnSpc>
                <a:spcPts val="4000"/>
              </a:lnSpc>
            </a:pPr>
            <a:r>
              <a:rPr lang="en-US" sz="4000">
                <a:solidFill>
                  <a:srgbClr val="FF3131"/>
                </a:solidFill>
                <a:latin typeface="Poppins Light"/>
                <a:ea typeface="Poppins Light"/>
                <a:cs typeface="Poppins Light"/>
                <a:sym typeface="Poppins Light"/>
              </a:rPr>
              <a:t>WAKTU</a:t>
            </a:r>
          </a:p>
        </p:txBody>
      </p:sp>
      <p:sp>
        <p:nvSpPr>
          <p:cNvPr name="TextBox 3" id="3"/>
          <p:cNvSpPr txBox="true"/>
          <p:nvPr/>
        </p:nvSpPr>
        <p:spPr>
          <a:xfrm rot="0">
            <a:off x="10458116" y="1672591"/>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MALAM</a:t>
            </a:r>
          </a:p>
        </p:txBody>
      </p:sp>
      <p:sp>
        <p:nvSpPr>
          <p:cNvPr name="Freeform 4" id="4"/>
          <p:cNvSpPr/>
          <p:nvPr/>
        </p:nvSpPr>
        <p:spPr>
          <a:xfrm flipH="false" flipV="false" rot="8100000">
            <a:off x="7240206" y="1316946"/>
            <a:ext cx="921077" cy="255411"/>
          </a:xfrm>
          <a:custGeom>
            <a:avLst/>
            <a:gdLst/>
            <a:ahLst/>
            <a:cxnLst/>
            <a:rect r="r" b="b" t="t" l="l"/>
            <a:pathLst>
              <a:path h="255411" w="921077">
                <a:moveTo>
                  <a:pt x="0" y="0"/>
                </a:moveTo>
                <a:lnTo>
                  <a:pt x="921077" y="0"/>
                </a:lnTo>
                <a:lnTo>
                  <a:pt x="921077"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52512" t="0" r="0" b="0"/>
            </a:stretch>
          </a:blipFill>
        </p:spPr>
      </p:sp>
      <p:sp>
        <p:nvSpPr>
          <p:cNvPr name="TextBox 5" id="5"/>
          <p:cNvSpPr txBox="true"/>
          <p:nvPr/>
        </p:nvSpPr>
        <p:spPr>
          <a:xfrm rot="0">
            <a:off x="5400974" y="1672590"/>
            <a:ext cx="1844278"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SIANG</a:t>
            </a:r>
          </a:p>
        </p:txBody>
      </p:sp>
      <p:sp>
        <p:nvSpPr>
          <p:cNvPr name="TextBox 6" id="6"/>
          <p:cNvSpPr txBox="true"/>
          <p:nvPr/>
        </p:nvSpPr>
        <p:spPr>
          <a:xfrm rot="0">
            <a:off x="2881366" y="3317973"/>
            <a:ext cx="1844278" cy="1082676"/>
          </a:xfrm>
          <a:prstGeom prst="rect">
            <a:avLst/>
          </a:prstGeom>
        </p:spPr>
        <p:txBody>
          <a:bodyPr anchor="t" rtlCol="false" tIns="0" lIns="0" bIns="0" rIns="0">
            <a:spAutoFit/>
          </a:bodyPr>
          <a:lstStyle/>
          <a:p>
            <a:pPr algn="ctr">
              <a:lnSpc>
                <a:spcPts val="4000"/>
              </a:lnSpc>
            </a:pPr>
            <a:r>
              <a:rPr lang="en-US" sz="4000">
                <a:solidFill>
                  <a:srgbClr val="918E8E"/>
                </a:solidFill>
                <a:latin typeface="Poppins Light"/>
                <a:ea typeface="Poppins Light"/>
                <a:cs typeface="Poppins Light"/>
                <a:sym typeface="Poppins Light"/>
              </a:rPr>
              <a:t>LAMPU OFF</a:t>
            </a:r>
          </a:p>
        </p:txBody>
      </p:sp>
      <p:sp>
        <p:nvSpPr>
          <p:cNvPr name="TextBox 7" id="7"/>
          <p:cNvSpPr txBox="true"/>
          <p:nvPr/>
        </p:nvSpPr>
        <p:spPr>
          <a:xfrm rot="0">
            <a:off x="10763483" y="3317973"/>
            <a:ext cx="2819440" cy="577851"/>
          </a:xfrm>
          <a:prstGeom prst="rect">
            <a:avLst/>
          </a:prstGeom>
        </p:spPr>
        <p:txBody>
          <a:bodyPr anchor="t" rtlCol="false" tIns="0" lIns="0" bIns="0" rIns="0">
            <a:spAutoFit/>
          </a:bodyPr>
          <a:lstStyle/>
          <a:p>
            <a:pPr algn="ctr">
              <a:lnSpc>
                <a:spcPts val="4000"/>
              </a:lnSpc>
            </a:pPr>
            <a:r>
              <a:rPr lang="en-US" sz="4000">
                <a:solidFill>
                  <a:srgbClr val="FF3131"/>
                </a:solidFill>
                <a:latin typeface="Poppins Light"/>
                <a:ea typeface="Poppins Light"/>
                <a:cs typeface="Poppins Light"/>
                <a:sym typeface="Poppins Light"/>
              </a:rPr>
              <a:t>LUX </a:t>
            </a:r>
          </a:p>
        </p:txBody>
      </p:sp>
      <p:sp>
        <p:nvSpPr>
          <p:cNvPr name="TextBox 8" id="8"/>
          <p:cNvSpPr txBox="true"/>
          <p:nvPr/>
        </p:nvSpPr>
        <p:spPr>
          <a:xfrm rot="0">
            <a:off x="8116696" y="5172075"/>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TINGGI</a:t>
            </a:r>
          </a:p>
        </p:txBody>
      </p:sp>
      <p:sp>
        <p:nvSpPr>
          <p:cNvPr name="TextBox 9" id="9"/>
          <p:cNvSpPr txBox="true"/>
          <p:nvPr/>
        </p:nvSpPr>
        <p:spPr>
          <a:xfrm rot="0">
            <a:off x="11030607" y="5172075"/>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SEDANG</a:t>
            </a:r>
          </a:p>
        </p:txBody>
      </p:sp>
      <p:sp>
        <p:nvSpPr>
          <p:cNvPr name="TextBox 10" id="10"/>
          <p:cNvSpPr txBox="true"/>
          <p:nvPr/>
        </p:nvSpPr>
        <p:spPr>
          <a:xfrm rot="0">
            <a:off x="13850048" y="5172075"/>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RENDAH</a:t>
            </a:r>
          </a:p>
        </p:txBody>
      </p:sp>
      <p:sp>
        <p:nvSpPr>
          <p:cNvPr name="TextBox 11" id="11"/>
          <p:cNvSpPr txBox="true"/>
          <p:nvPr/>
        </p:nvSpPr>
        <p:spPr>
          <a:xfrm rot="0">
            <a:off x="14471111" y="6713495"/>
            <a:ext cx="2071968" cy="1082676"/>
          </a:xfrm>
          <a:prstGeom prst="rect">
            <a:avLst/>
          </a:prstGeom>
        </p:spPr>
        <p:txBody>
          <a:bodyPr anchor="t" rtlCol="false" tIns="0" lIns="0" bIns="0" rIns="0">
            <a:spAutoFit/>
          </a:bodyPr>
          <a:lstStyle/>
          <a:p>
            <a:pPr algn="ctr">
              <a:lnSpc>
                <a:spcPts val="4000"/>
              </a:lnSpc>
            </a:pPr>
            <a:r>
              <a:rPr lang="en-US" sz="4000">
                <a:solidFill>
                  <a:srgbClr val="FFED00"/>
                </a:solidFill>
                <a:latin typeface="Poppins Light"/>
                <a:ea typeface="Poppins Light"/>
                <a:cs typeface="Poppins Light"/>
                <a:sym typeface="Poppins Light"/>
              </a:rPr>
              <a:t>LAMPU TERANG</a:t>
            </a:r>
          </a:p>
        </p:txBody>
      </p:sp>
      <p:sp>
        <p:nvSpPr>
          <p:cNvPr name="TextBox 12" id="12"/>
          <p:cNvSpPr txBox="true"/>
          <p:nvPr/>
        </p:nvSpPr>
        <p:spPr>
          <a:xfrm rot="0">
            <a:off x="3108217" y="6245998"/>
            <a:ext cx="2819440" cy="577851"/>
          </a:xfrm>
          <a:prstGeom prst="rect">
            <a:avLst/>
          </a:prstGeom>
        </p:spPr>
        <p:txBody>
          <a:bodyPr anchor="t" rtlCol="false" tIns="0" lIns="0" bIns="0" rIns="0">
            <a:spAutoFit/>
          </a:bodyPr>
          <a:lstStyle/>
          <a:p>
            <a:pPr algn="ctr">
              <a:lnSpc>
                <a:spcPts val="4000"/>
              </a:lnSpc>
            </a:pPr>
            <a:r>
              <a:rPr lang="en-US" sz="4000">
                <a:solidFill>
                  <a:srgbClr val="FF3131"/>
                </a:solidFill>
                <a:latin typeface="Poppins Light"/>
                <a:ea typeface="Poppins Light"/>
                <a:cs typeface="Poppins Light"/>
                <a:sym typeface="Poppins Light"/>
              </a:rPr>
              <a:t>CUACA</a:t>
            </a:r>
          </a:p>
        </p:txBody>
      </p:sp>
      <p:sp>
        <p:nvSpPr>
          <p:cNvPr name="TextBox 13" id="13"/>
          <p:cNvSpPr txBox="true"/>
          <p:nvPr/>
        </p:nvSpPr>
        <p:spPr>
          <a:xfrm rot="0">
            <a:off x="9485466" y="6662695"/>
            <a:ext cx="2819440" cy="577851"/>
          </a:xfrm>
          <a:prstGeom prst="rect">
            <a:avLst/>
          </a:prstGeom>
        </p:spPr>
        <p:txBody>
          <a:bodyPr anchor="t" rtlCol="false" tIns="0" lIns="0" bIns="0" rIns="0">
            <a:spAutoFit/>
          </a:bodyPr>
          <a:lstStyle/>
          <a:p>
            <a:pPr algn="ctr">
              <a:lnSpc>
                <a:spcPts val="4000"/>
              </a:lnSpc>
            </a:pPr>
            <a:r>
              <a:rPr lang="en-US" sz="4000">
                <a:solidFill>
                  <a:srgbClr val="FF3131"/>
                </a:solidFill>
                <a:latin typeface="Poppins Light"/>
                <a:ea typeface="Poppins Light"/>
                <a:cs typeface="Poppins Light"/>
                <a:sym typeface="Poppins Light"/>
              </a:rPr>
              <a:t>CUACA</a:t>
            </a:r>
          </a:p>
        </p:txBody>
      </p:sp>
      <p:sp>
        <p:nvSpPr>
          <p:cNvPr name="TextBox 14" id="14"/>
          <p:cNvSpPr txBox="true"/>
          <p:nvPr/>
        </p:nvSpPr>
        <p:spPr>
          <a:xfrm rot="0">
            <a:off x="1471646" y="7686633"/>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CERAH</a:t>
            </a:r>
          </a:p>
        </p:txBody>
      </p:sp>
      <p:sp>
        <p:nvSpPr>
          <p:cNvPr name="TextBox 15" id="15"/>
          <p:cNvSpPr txBox="true"/>
          <p:nvPr/>
        </p:nvSpPr>
        <p:spPr>
          <a:xfrm rot="0">
            <a:off x="4794171" y="7686633"/>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MENDUNG</a:t>
            </a:r>
          </a:p>
        </p:txBody>
      </p:sp>
      <p:sp>
        <p:nvSpPr>
          <p:cNvPr name="TextBox 16" id="16"/>
          <p:cNvSpPr txBox="true"/>
          <p:nvPr/>
        </p:nvSpPr>
        <p:spPr>
          <a:xfrm rot="0">
            <a:off x="8116696" y="7686633"/>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CERAH</a:t>
            </a:r>
          </a:p>
        </p:txBody>
      </p:sp>
      <p:sp>
        <p:nvSpPr>
          <p:cNvPr name="TextBox 17" id="17"/>
          <p:cNvSpPr txBox="true"/>
          <p:nvPr/>
        </p:nvSpPr>
        <p:spPr>
          <a:xfrm rot="0">
            <a:off x="11030607" y="7686633"/>
            <a:ext cx="2819440" cy="577851"/>
          </a:xfrm>
          <a:prstGeom prst="rect">
            <a:avLst/>
          </a:prstGeom>
        </p:spPr>
        <p:txBody>
          <a:bodyPr anchor="t" rtlCol="false" tIns="0" lIns="0" bIns="0" rIns="0">
            <a:spAutoFit/>
          </a:bodyPr>
          <a:lstStyle/>
          <a:p>
            <a:pPr algn="ctr">
              <a:lnSpc>
                <a:spcPts val="4000"/>
              </a:lnSpc>
            </a:pPr>
            <a:r>
              <a:rPr lang="en-US" sz="4000">
                <a:solidFill>
                  <a:srgbClr val="FFFFFF"/>
                </a:solidFill>
                <a:latin typeface="Poppins Light"/>
                <a:ea typeface="Poppins Light"/>
                <a:cs typeface="Poppins Light"/>
                <a:sym typeface="Poppins Light"/>
              </a:rPr>
              <a:t>MENDUNG</a:t>
            </a:r>
          </a:p>
        </p:txBody>
      </p:sp>
      <p:sp>
        <p:nvSpPr>
          <p:cNvPr name="TextBox 18" id="18"/>
          <p:cNvSpPr txBox="true"/>
          <p:nvPr/>
        </p:nvSpPr>
        <p:spPr>
          <a:xfrm rot="0">
            <a:off x="1845382" y="8731249"/>
            <a:ext cx="2071968" cy="1082676"/>
          </a:xfrm>
          <a:prstGeom prst="rect">
            <a:avLst/>
          </a:prstGeom>
        </p:spPr>
        <p:txBody>
          <a:bodyPr anchor="t" rtlCol="false" tIns="0" lIns="0" bIns="0" rIns="0">
            <a:spAutoFit/>
          </a:bodyPr>
          <a:lstStyle/>
          <a:p>
            <a:pPr algn="ctr">
              <a:lnSpc>
                <a:spcPts val="4000"/>
              </a:lnSpc>
            </a:pPr>
            <a:r>
              <a:rPr lang="en-US" sz="4000">
                <a:solidFill>
                  <a:srgbClr val="FFED00">
                    <a:alpha val="29804"/>
                  </a:srgbClr>
                </a:solidFill>
                <a:latin typeface="Poppins Light"/>
                <a:ea typeface="Poppins Light"/>
                <a:cs typeface="Poppins Light"/>
                <a:sym typeface="Poppins Light"/>
              </a:rPr>
              <a:t>LAMPU REDUP</a:t>
            </a:r>
          </a:p>
        </p:txBody>
      </p:sp>
      <p:sp>
        <p:nvSpPr>
          <p:cNvPr name="TextBox 19" id="19"/>
          <p:cNvSpPr txBox="true"/>
          <p:nvPr/>
        </p:nvSpPr>
        <p:spPr>
          <a:xfrm rot="0">
            <a:off x="5167907" y="8731249"/>
            <a:ext cx="2071968" cy="1082676"/>
          </a:xfrm>
          <a:prstGeom prst="rect">
            <a:avLst/>
          </a:prstGeom>
        </p:spPr>
        <p:txBody>
          <a:bodyPr anchor="t" rtlCol="false" tIns="0" lIns="0" bIns="0" rIns="0">
            <a:spAutoFit/>
          </a:bodyPr>
          <a:lstStyle/>
          <a:p>
            <a:pPr algn="ctr">
              <a:lnSpc>
                <a:spcPts val="4000"/>
              </a:lnSpc>
            </a:pPr>
            <a:r>
              <a:rPr lang="en-US" sz="4000">
                <a:solidFill>
                  <a:srgbClr val="FFED00">
                    <a:alpha val="60000"/>
                  </a:srgbClr>
                </a:solidFill>
                <a:latin typeface="Poppins Light"/>
                <a:ea typeface="Poppins Light"/>
                <a:cs typeface="Poppins Light"/>
                <a:sym typeface="Poppins Light"/>
              </a:rPr>
              <a:t>LAMPU SEDANG</a:t>
            </a:r>
          </a:p>
        </p:txBody>
      </p:sp>
      <p:sp>
        <p:nvSpPr>
          <p:cNvPr name="TextBox 20" id="20"/>
          <p:cNvSpPr txBox="true"/>
          <p:nvPr/>
        </p:nvSpPr>
        <p:spPr>
          <a:xfrm rot="0">
            <a:off x="11404344" y="8604767"/>
            <a:ext cx="2071968" cy="1082676"/>
          </a:xfrm>
          <a:prstGeom prst="rect">
            <a:avLst/>
          </a:prstGeom>
        </p:spPr>
        <p:txBody>
          <a:bodyPr anchor="t" rtlCol="false" tIns="0" lIns="0" bIns="0" rIns="0">
            <a:spAutoFit/>
          </a:bodyPr>
          <a:lstStyle/>
          <a:p>
            <a:pPr algn="ctr">
              <a:lnSpc>
                <a:spcPts val="4000"/>
              </a:lnSpc>
            </a:pPr>
            <a:r>
              <a:rPr lang="en-US" sz="4000">
                <a:solidFill>
                  <a:srgbClr val="FFED00"/>
                </a:solidFill>
                <a:latin typeface="Poppins Light"/>
                <a:ea typeface="Poppins Light"/>
                <a:cs typeface="Poppins Light"/>
                <a:sym typeface="Poppins Light"/>
              </a:rPr>
              <a:t>LAMPU TERANG</a:t>
            </a:r>
          </a:p>
        </p:txBody>
      </p:sp>
      <p:sp>
        <p:nvSpPr>
          <p:cNvPr name="TextBox 21" id="21"/>
          <p:cNvSpPr txBox="true"/>
          <p:nvPr/>
        </p:nvSpPr>
        <p:spPr>
          <a:xfrm rot="0">
            <a:off x="8584904" y="8740733"/>
            <a:ext cx="2071968" cy="1082676"/>
          </a:xfrm>
          <a:prstGeom prst="rect">
            <a:avLst/>
          </a:prstGeom>
        </p:spPr>
        <p:txBody>
          <a:bodyPr anchor="t" rtlCol="false" tIns="0" lIns="0" bIns="0" rIns="0">
            <a:spAutoFit/>
          </a:bodyPr>
          <a:lstStyle/>
          <a:p>
            <a:pPr algn="ctr">
              <a:lnSpc>
                <a:spcPts val="4000"/>
              </a:lnSpc>
            </a:pPr>
            <a:r>
              <a:rPr lang="en-US" sz="4000">
                <a:solidFill>
                  <a:srgbClr val="FFED00">
                    <a:alpha val="60000"/>
                  </a:srgbClr>
                </a:solidFill>
                <a:latin typeface="Poppins Light"/>
                <a:ea typeface="Poppins Light"/>
                <a:cs typeface="Poppins Light"/>
                <a:sym typeface="Poppins Light"/>
              </a:rPr>
              <a:t>LAMPU SEDANG</a:t>
            </a:r>
          </a:p>
        </p:txBody>
      </p:sp>
      <p:sp>
        <p:nvSpPr>
          <p:cNvPr name="Freeform 22" id="22"/>
          <p:cNvSpPr/>
          <p:nvPr/>
        </p:nvSpPr>
        <p:spPr>
          <a:xfrm flipH="false" flipV="false" rot="1965486">
            <a:off x="10019202" y="1257584"/>
            <a:ext cx="921077" cy="255411"/>
          </a:xfrm>
          <a:custGeom>
            <a:avLst/>
            <a:gdLst/>
            <a:ahLst/>
            <a:cxnLst/>
            <a:rect r="r" b="b" t="t" l="l"/>
            <a:pathLst>
              <a:path h="255411" w="921077">
                <a:moveTo>
                  <a:pt x="0" y="0"/>
                </a:moveTo>
                <a:lnTo>
                  <a:pt x="921077" y="0"/>
                </a:lnTo>
                <a:lnTo>
                  <a:pt x="921077" y="255412"/>
                </a:lnTo>
                <a:lnTo>
                  <a:pt x="0" y="255412"/>
                </a:lnTo>
                <a:lnTo>
                  <a:pt x="0" y="0"/>
                </a:lnTo>
                <a:close/>
              </a:path>
            </a:pathLst>
          </a:custGeom>
          <a:blipFill>
            <a:blip r:embed="rId2">
              <a:extLst>
                <a:ext uri="{96DAC541-7B7A-43D3-8B79-37D633B846F1}">
                  <asvg:svgBlip xmlns:asvg="http://schemas.microsoft.com/office/drawing/2016/SVG/main" r:embed="rId3"/>
                </a:ext>
              </a:extLst>
            </a:blip>
            <a:stretch>
              <a:fillRect l="-52512" t="0" r="0" b="0"/>
            </a:stretch>
          </a:blipFill>
        </p:spPr>
      </p:sp>
      <p:sp>
        <p:nvSpPr>
          <p:cNvPr name="Freeform 23" id="23"/>
          <p:cNvSpPr/>
          <p:nvPr/>
        </p:nvSpPr>
        <p:spPr>
          <a:xfrm flipH="false" flipV="false" rot="8100000">
            <a:off x="4524484" y="2617341"/>
            <a:ext cx="921077" cy="255411"/>
          </a:xfrm>
          <a:custGeom>
            <a:avLst/>
            <a:gdLst/>
            <a:ahLst/>
            <a:cxnLst/>
            <a:rect r="r" b="b" t="t" l="l"/>
            <a:pathLst>
              <a:path h="255411" w="921077">
                <a:moveTo>
                  <a:pt x="0" y="0"/>
                </a:moveTo>
                <a:lnTo>
                  <a:pt x="921077" y="0"/>
                </a:lnTo>
                <a:lnTo>
                  <a:pt x="921077" y="255412"/>
                </a:lnTo>
                <a:lnTo>
                  <a:pt x="0" y="255412"/>
                </a:lnTo>
                <a:lnTo>
                  <a:pt x="0" y="0"/>
                </a:lnTo>
                <a:close/>
              </a:path>
            </a:pathLst>
          </a:custGeom>
          <a:blipFill>
            <a:blip r:embed="rId2">
              <a:extLst>
                <a:ext uri="{96DAC541-7B7A-43D3-8B79-37D633B846F1}">
                  <asvg:svgBlip xmlns:asvg="http://schemas.microsoft.com/office/drawing/2016/SVG/main" r:embed="rId3"/>
                </a:ext>
              </a:extLst>
            </a:blip>
            <a:stretch>
              <a:fillRect l="-52512" t="0" r="0" b="0"/>
            </a:stretch>
          </a:blipFill>
        </p:spPr>
      </p:sp>
      <p:sp>
        <p:nvSpPr>
          <p:cNvPr name="Freeform 24" id="24"/>
          <p:cNvSpPr/>
          <p:nvPr/>
        </p:nvSpPr>
        <p:spPr>
          <a:xfrm flipH="false" flipV="false" rot="5294018">
            <a:off x="11696802" y="2642214"/>
            <a:ext cx="676655" cy="255411"/>
          </a:xfrm>
          <a:custGeom>
            <a:avLst/>
            <a:gdLst/>
            <a:ahLst/>
            <a:cxnLst/>
            <a:rect r="r" b="b" t="t" l="l"/>
            <a:pathLst>
              <a:path h="255411" w="676655">
                <a:moveTo>
                  <a:pt x="0" y="0"/>
                </a:moveTo>
                <a:lnTo>
                  <a:pt x="676654" y="0"/>
                </a:lnTo>
                <a:lnTo>
                  <a:pt x="676654"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107603" t="0" r="0" b="0"/>
            </a:stretch>
          </a:blipFill>
        </p:spPr>
      </p:sp>
      <p:sp>
        <p:nvSpPr>
          <p:cNvPr name="Freeform 25" id="25"/>
          <p:cNvSpPr/>
          <p:nvPr/>
        </p:nvSpPr>
        <p:spPr>
          <a:xfrm flipH="false" flipV="false" rot="5321255">
            <a:off x="11699454" y="4360306"/>
            <a:ext cx="676655" cy="255411"/>
          </a:xfrm>
          <a:custGeom>
            <a:avLst/>
            <a:gdLst/>
            <a:ahLst/>
            <a:cxnLst/>
            <a:rect r="r" b="b" t="t" l="l"/>
            <a:pathLst>
              <a:path h="255411" w="676655">
                <a:moveTo>
                  <a:pt x="0" y="0"/>
                </a:moveTo>
                <a:lnTo>
                  <a:pt x="676655" y="0"/>
                </a:lnTo>
                <a:lnTo>
                  <a:pt x="676655"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107603" t="0" r="0" b="0"/>
            </a:stretch>
          </a:blipFill>
        </p:spPr>
      </p:sp>
      <p:sp>
        <p:nvSpPr>
          <p:cNvPr name="Freeform 26" id="26"/>
          <p:cNvSpPr/>
          <p:nvPr/>
        </p:nvSpPr>
        <p:spPr>
          <a:xfrm flipH="false" flipV="false" rot="7890214">
            <a:off x="10061102" y="4327967"/>
            <a:ext cx="1404762" cy="255411"/>
          </a:xfrm>
          <a:custGeom>
            <a:avLst/>
            <a:gdLst/>
            <a:ahLst/>
            <a:cxnLst/>
            <a:rect r="r" b="b" t="t" l="l"/>
            <a:pathLst>
              <a:path h="255411" w="1404762">
                <a:moveTo>
                  <a:pt x="0" y="0"/>
                </a:moveTo>
                <a:lnTo>
                  <a:pt x="1404761" y="0"/>
                </a:lnTo>
                <a:lnTo>
                  <a:pt x="1404761"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2391030">
            <a:off x="13147667" y="4327967"/>
            <a:ext cx="1404762" cy="255411"/>
          </a:xfrm>
          <a:custGeom>
            <a:avLst/>
            <a:gdLst/>
            <a:ahLst/>
            <a:cxnLst/>
            <a:rect r="r" b="b" t="t" l="l"/>
            <a:pathLst>
              <a:path h="255411" w="1404762">
                <a:moveTo>
                  <a:pt x="0" y="0"/>
                </a:moveTo>
                <a:lnTo>
                  <a:pt x="1404762" y="0"/>
                </a:lnTo>
                <a:lnTo>
                  <a:pt x="1404762"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9710331">
            <a:off x="6707120" y="5748554"/>
            <a:ext cx="1404762" cy="255411"/>
          </a:xfrm>
          <a:custGeom>
            <a:avLst/>
            <a:gdLst/>
            <a:ahLst/>
            <a:cxnLst/>
            <a:rect r="r" b="b" t="t" l="l"/>
            <a:pathLst>
              <a:path h="255411" w="1404762">
                <a:moveTo>
                  <a:pt x="0" y="0"/>
                </a:moveTo>
                <a:lnTo>
                  <a:pt x="1404762" y="0"/>
                </a:lnTo>
                <a:lnTo>
                  <a:pt x="1404762"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9" id="29"/>
          <p:cNvSpPr/>
          <p:nvPr/>
        </p:nvSpPr>
        <p:spPr>
          <a:xfrm flipH="false" flipV="false" rot="6868192">
            <a:off x="11066017" y="6070045"/>
            <a:ext cx="676655" cy="255411"/>
          </a:xfrm>
          <a:custGeom>
            <a:avLst/>
            <a:gdLst/>
            <a:ahLst/>
            <a:cxnLst/>
            <a:rect r="r" b="b" t="t" l="l"/>
            <a:pathLst>
              <a:path h="255411" w="676655">
                <a:moveTo>
                  <a:pt x="0" y="0"/>
                </a:moveTo>
                <a:lnTo>
                  <a:pt x="676654" y="0"/>
                </a:lnTo>
                <a:lnTo>
                  <a:pt x="676654"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107603" t="0" r="0" b="0"/>
            </a:stretch>
          </a:blipFill>
        </p:spPr>
      </p:sp>
      <p:sp>
        <p:nvSpPr>
          <p:cNvPr name="Freeform 30" id="30"/>
          <p:cNvSpPr/>
          <p:nvPr/>
        </p:nvSpPr>
        <p:spPr>
          <a:xfrm flipH="false" flipV="false" rot="5321255">
            <a:off x="14921440" y="6089717"/>
            <a:ext cx="676655" cy="255411"/>
          </a:xfrm>
          <a:custGeom>
            <a:avLst/>
            <a:gdLst/>
            <a:ahLst/>
            <a:cxnLst/>
            <a:rect r="r" b="b" t="t" l="l"/>
            <a:pathLst>
              <a:path h="255411" w="676655">
                <a:moveTo>
                  <a:pt x="0" y="0"/>
                </a:moveTo>
                <a:lnTo>
                  <a:pt x="676655" y="0"/>
                </a:lnTo>
                <a:lnTo>
                  <a:pt x="676655"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107603" t="0" r="0" b="0"/>
            </a:stretch>
          </a:blipFill>
        </p:spPr>
      </p:sp>
      <p:sp>
        <p:nvSpPr>
          <p:cNvPr name="Freeform 31" id="31"/>
          <p:cNvSpPr/>
          <p:nvPr/>
        </p:nvSpPr>
        <p:spPr>
          <a:xfrm flipH="false" flipV="false" rot="2769109">
            <a:off x="5331101" y="7010457"/>
            <a:ext cx="1056689" cy="265871"/>
          </a:xfrm>
          <a:custGeom>
            <a:avLst/>
            <a:gdLst/>
            <a:ahLst/>
            <a:cxnLst/>
            <a:rect r="r" b="b" t="t" l="l"/>
            <a:pathLst>
              <a:path h="265871" w="1056689">
                <a:moveTo>
                  <a:pt x="0" y="21146"/>
                </a:moveTo>
                <a:lnTo>
                  <a:pt x="1051769" y="0"/>
                </a:lnTo>
                <a:lnTo>
                  <a:pt x="1056690" y="244724"/>
                </a:lnTo>
                <a:lnTo>
                  <a:pt x="4921" y="265871"/>
                </a:lnTo>
                <a:lnTo>
                  <a:pt x="0" y="21146"/>
                </a:lnTo>
                <a:close/>
              </a:path>
            </a:pathLst>
          </a:custGeom>
          <a:blipFill>
            <a:blip r:embed="rId2">
              <a:extLst>
                <a:ext uri="{96DAC541-7B7A-43D3-8B79-37D633B846F1}">
                  <asvg:svgBlip xmlns:asvg="http://schemas.microsoft.com/office/drawing/2016/SVG/main" r:embed="rId3"/>
                </a:ext>
              </a:extLst>
            </a:blip>
            <a:stretch>
              <a:fillRect l="-47593" t="-6667" r="-17" b="0"/>
            </a:stretch>
          </a:blipFill>
          <a:ln w="38100" cap="sq">
            <a:solidFill>
              <a:srgbClr val="000000"/>
            </a:solidFill>
            <a:prstDash val="solid"/>
            <a:miter/>
          </a:ln>
        </p:spPr>
      </p:sp>
      <p:sp>
        <p:nvSpPr>
          <p:cNvPr name="Freeform 32" id="32"/>
          <p:cNvSpPr/>
          <p:nvPr/>
        </p:nvSpPr>
        <p:spPr>
          <a:xfrm flipH="false" flipV="false" rot="8028983">
            <a:off x="2702186" y="7003472"/>
            <a:ext cx="991850" cy="255411"/>
          </a:xfrm>
          <a:custGeom>
            <a:avLst/>
            <a:gdLst/>
            <a:ahLst/>
            <a:cxnLst/>
            <a:rect r="r" b="b" t="t" l="l"/>
            <a:pathLst>
              <a:path h="255411" w="991850">
                <a:moveTo>
                  <a:pt x="0" y="0"/>
                </a:moveTo>
                <a:lnTo>
                  <a:pt x="991850" y="0"/>
                </a:lnTo>
                <a:lnTo>
                  <a:pt x="991850"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41630" t="0" r="0" b="0"/>
            </a:stretch>
          </a:blipFill>
          <a:ln w="38100" cap="sq">
            <a:solidFill>
              <a:srgbClr val="000000"/>
            </a:solidFill>
            <a:prstDash val="solid"/>
            <a:miter/>
          </a:ln>
        </p:spPr>
      </p:sp>
      <p:sp>
        <p:nvSpPr>
          <p:cNvPr name="Freeform 33" id="33"/>
          <p:cNvSpPr/>
          <p:nvPr/>
        </p:nvSpPr>
        <p:spPr>
          <a:xfrm flipH="false" flipV="false" rot="7694603">
            <a:off x="9523147" y="7245622"/>
            <a:ext cx="543667" cy="255411"/>
          </a:xfrm>
          <a:custGeom>
            <a:avLst/>
            <a:gdLst/>
            <a:ahLst/>
            <a:cxnLst/>
            <a:rect r="r" b="b" t="t" l="l"/>
            <a:pathLst>
              <a:path h="255411" w="543667">
                <a:moveTo>
                  <a:pt x="0" y="0"/>
                </a:moveTo>
                <a:lnTo>
                  <a:pt x="543667" y="0"/>
                </a:lnTo>
                <a:lnTo>
                  <a:pt x="543667"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158386" t="0" r="0" b="0"/>
            </a:stretch>
          </a:blipFill>
          <a:ln w="38100" cap="sq">
            <a:solidFill>
              <a:srgbClr val="000000"/>
            </a:solidFill>
            <a:prstDash val="solid"/>
            <a:miter/>
          </a:ln>
        </p:spPr>
      </p:sp>
      <p:sp>
        <p:nvSpPr>
          <p:cNvPr name="Freeform 34" id="34"/>
          <p:cNvSpPr/>
          <p:nvPr/>
        </p:nvSpPr>
        <p:spPr>
          <a:xfrm flipH="false" flipV="false" rot="3304363">
            <a:off x="11781504" y="7245622"/>
            <a:ext cx="704747" cy="255411"/>
          </a:xfrm>
          <a:custGeom>
            <a:avLst/>
            <a:gdLst/>
            <a:ahLst/>
            <a:cxnLst/>
            <a:rect r="r" b="b" t="t" l="l"/>
            <a:pathLst>
              <a:path h="255411" w="704747">
                <a:moveTo>
                  <a:pt x="0" y="0"/>
                </a:moveTo>
                <a:lnTo>
                  <a:pt x="704747" y="0"/>
                </a:lnTo>
                <a:lnTo>
                  <a:pt x="704747" y="255411"/>
                </a:lnTo>
                <a:lnTo>
                  <a:pt x="0" y="255411"/>
                </a:lnTo>
                <a:lnTo>
                  <a:pt x="0" y="0"/>
                </a:lnTo>
                <a:close/>
              </a:path>
            </a:pathLst>
          </a:custGeom>
          <a:blipFill>
            <a:blip r:embed="rId2">
              <a:extLst>
                <a:ext uri="{96DAC541-7B7A-43D3-8B79-37D633B846F1}">
                  <asvg:svgBlip xmlns:asvg="http://schemas.microsoft.com/office/drawing/2016/SVG/main" r:embed="rId3"/>
                </a:ext>
              </a:extLst>
            </a:blip>
            <a:stretch>
              <a:fillRect l="-99328" t="0" r="0" b="0"/>
            </a:stretch>
          </a:blipFill>
          <a:ln w="38100" cap="sq">
            <a:solidFill>
              <a:srgbClr val="000000"/>
            </a:solid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93948" y="2082066"/>
            <a:ext cx="20814942" cy="8825535"/>
          </a:xfrm>
          <a:custGeom>
            <a:avLst/>
            <a:gdLst/>
            <a:ahLst/>
            <a:cxnLst/>
            <a:rect r="r" b="b" t="t" l="l"/>
            <a:pathLst>
              <a:path h="8825535" w="20814942">
                <a:moveTo>
                  <a:pt x="0" y="0"/>
                </a:moveTo>
                <a:lnTo>
                  <a:pt x="20814942" y="0"/>
                </a:lnTo>
                <a:lnTo>
                  <a:pt x="20814942" y="8825535"/>
                </a:lnTo>
                <a:lnTo>
                  <a:pt x="0" y="8825535"/>
                </a:lnTo>
                <a:lnTo>
                  <a:pt x="0" y="0"/>
                </a:lnTo>
                <a:close/>
              </a:path>
            </a:pathLst>
          </a:custGeom>
          <a:blipFill>
            <a:blip r:embed="rId2">
              <a:alphaModFix amt="60000"/>
            </a:blip>
            <a:stretch>
              <a:fillRect l="0" t="0" r="0" b="0"/>
            </a:stretch>
          </a:blipFill>
        </p:spPr>
      </p:sp>
      <p:sp>
        <p:nvSpPr>
          <p:cNvPr name="TextBox 3" id="3"/>
          <p:cNvSpPr txBox="true"/>
          <p:nvPr/>
        </p:nvSpPr>
        <p:spPr>
          <a:xfrm rot="0">
            <a:off x="4723466" y="4468108"/>
            <a:ext cx="9074771" cy="1027422"/>
          </a:xfrm>
          <a:prstGeom prst="rect">
            <a:avLst/>
          </a:prstGeom>
        </p:spPr>
        <p:txBody>
          <a:bodyPr anchor="t" rtlCol="false" tIns="0" lIns="0" bIns="0" rIns="0">
            <a:spAutoFit/>
          </a:bodyPr>
          <a:lstStyle/>
          <a:p>
            <a:pPr algn="ctr">
              <a:lnSpc>
                <a:spcPts val="7232"/>
              </a:lnSpc>
            </a:pPr>
            <a:r>
              <a:rPr lang="en-US" sz="7232">
                <a:solidFill>
                  <a:srgbClr val="FFFFFF"/>
                </a:solidFill>
                <a:latin typeface="Poppins Light"/>
                <a:ea typeface="Poppins Light"/>
                <a:cs typeface="Poppins Light"/>
                <a:sym typeface="Poppins Light"/>
              </a:rPr>
              <a:t>THANK YOU</a:t>
            </a:r>
          </a:p>
        </p:txBody>
      </p:sp>
      <p:sp>
        <p:nvSpPr>
          <p:cNvPr name="AutoShape 4" id="4"/>
          <p:cNvSpPr/>
          <p:nvPr/>
        </p:nvSpPr>
        <p:spPr>
          <a:xfrm>
            <a:off x="8896476" y="5932623"/>
            <a:ext cx="733494" cy="0"/>
          </a:xfrm>
          <a:prstGeom prst="line">
            <a:avLst/>
          </a:prstGeom>
          <a:ln cap="flat" w="57150">
            <a:solidFill>
              <a:srgbClr val="D2B99A"/>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DAG08Hidhso</dc:identifier>
  <dcterms:modified xsi:type="dcterms:W3CDTF">2011-08-01T06:04:30Z</dcterms:modified>
  <cp:revision>1</cp:revision>
  <dc:title>Kelompok 7</dc:title>
</cp:coreProperties>
</file>